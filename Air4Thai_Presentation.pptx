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086600" y="411480"/>
            <a:ext cx="5029200" cy="5029200"/>
          </a:xfrm>
          <a:prstGeom prst="ellipse">
            <a:avLst/>
          </a:prstGeom>
          <a:solidFill>
            <a:srgbClr val="06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0" y="1097280"/>
            <a:ext cx="3657600" cy="3657600"/>
          </a:xfrm>
          <a:prstGeom prst="ellipse">
            <a:avLst/>
          </a:prstGeom>
          <a:solidFill>
            <a:srgbClr val="084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Kanit"/>
              </a:rPr>
              <a:t>🌤️ Air4Thai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346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A8E8"/>
                </a:solidFill>
                <a:latin typeface="Kanit"/>
              </a:rPr>
              <a:t>แอปพยากรณ์อากาศประเทศไทย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520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496B0"/>
                </a:solidFill>
                <a:latin typeface="Kanit"/>
              </a:rPr>
              <a:t>ครอบคลุมทุก 77 จังหวัด • ข้อมูล Real-time • AI วิเคราะห์สภาพอากาศ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" y="6217920"/>
            <a:ext cx="11887200" cy="2743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96B0"/>
                </a:solidFill>
                <a:latin typeface="Kanit"/>
              </a:rPr>
              <a:t>React + Vite  •  TMD API  •  Open-Meteo  •  Firebase  •  GISTDA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09728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0" b="0" i="0">
                <a:solidFill>
                  <a:srgbClr val="FFFFFF"/>
                </a:solidFill>
                <a:latin typeface="Kanit"/>
              </a:rPr>
              <a:t>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Kanit"/>
              </a:rPr>
              <a:t>ภาพรวมแอปพลิเคชัน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D9EE"/>
                </a:solidFill>
                <a:latin typeface="Kanit"/>
              </a:rPr>
              <a:t>Air4Thai — Weather App สำหรับคนไทย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57432" y="0"/>
            <a:ext cx="731520" cy="1188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03152" y="320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Kanit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560320" cy="2286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Kanit"/>
              </a:rPr>
              <a:t>🏙️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Kanit"/>
              </a:rPr>
              <a:t>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E8F5"/>
                </a:solidFill>
                <a:latin typeface="Kanit"/>
              </a:rPr>
              <a:t>จังหวัด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17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8F5"/>
                </a:solidFill>
                <a:latin typeface="Kanit"/>
              </a:rPr>
              <a:t>ครอบคลุมทั่วประเทศ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463040"/>
            <a:ext cx="2560320" cy="2286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508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Kanit"/>
              </a:rP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1031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Kanit"/>
              </a:rPr>
              <a:t>Real-time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697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E8F5"/>
                </a:solidFill>
                <a:latin typeface="Kanit"/>
              </a:rPr>
              <a:t>ข้อมูล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017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8F5"/>
                </a:solidFill>
                <a:latin typeface="Kanit"/>
              </a:rPr>
              <a:t>อัปเดตทุกชั่วโมง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463040"/>
            <a:ext cx="2560320" cy="2286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1508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Kanit"/>
              </a:rPr>
              <a:t>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1031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Kanit"/>
              </a:rPr>
              <a:t>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697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E8F5"/>
                </a:solidFill>
                <a:latin typeface="Kanit"/>
              </a:rPr>
              <a:t>วิเคราะห์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3017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8F5"/>
                </a:solidFill>
                <a:latin typeface="Kanit"/>
              </a:rPr>
              <a:t>สรุปสภาพอากาศอัจฉริยะ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1463040"/>
            <a:ext cx="2560320" cy="2286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6840" y="1508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Kanit"/>
              </a:rPr>
              <a:t>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21031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Kanit"/>
              </a:rPr>
              <a:t>PWA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2697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E8F5"/>
                </a:solidFill>
                <a:latin typeface="Kanit"/>
              </a:rPr>
              <a:t>รองรับ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3017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8F5"/>
                </a:solidFill>
                <a:latin typeface="Kanit"/>
              </a:rPr>
              <a:t>ติดตั้งบนมือถือได้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977639"/>
            <a:ext cx="11274552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22376" y="4178807"/>
            <a:ext cx="201168" cy="201168"/>
          </a:xfrm>
          <a:prstGeom prst="ellipse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114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3F"/>
                </a:solidFill>
                <a:latin typeface="Kanit"/>
              </a:rPr>
              <a:t>🌡️ แดชบอร์ดสภาพอากาศ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4114800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680"/>
                </a:solidFill>
                <a:latin typeface="Kanit"/>
              </a:rPr>
              <a:t>ดูอุณหภูมิ ความชื้น ความกดอากาศ ทัศนวิสัย และดัชนี UV แบบ real-time</a:t>
            </a:r>
          </a:p>
        </p:txBody>
      </p:sp>
      <p:sp>
        <p:nvSpPr>
          <p:cNvPr id="31" name="Oval 30"/>
          <p:cNvSpPr/>
          <p:nvPr/>
        </p:nvSpPr>
        <p:spPr>
          <a:xfrm>
            <a:off x="722376" y="4727447"/>
            <a:ext cx="201168" cy="201168"/>
          </a:xfrm>
          <a:prstGeom prst="ellipse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4663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3F"/>
                </a:solidFill>
                <a:latin typeface="Kanit"/>
              </a:rPr>
              <a:t>🗺️ แผนที่ประเทศไทย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4663440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680"/>
                </a:solidFill>
                <a:latin typeface="Kanit"/>
              </a:rPr>
              <a:t>แผนที่แบบ interactive ที่แสดงข้อมูลทุกจังหวัดพร้อมกัน</a:t>
            </a:r>
          </a:p>
        </p:txBody>
      </p:sp>
      <p:sp>
        <p:nvSpPr>
          <p:cNvPr id="34" name="Oval 33"/>
          <p:cNvSpPr/>
          <p:nvPr/>
        </p:nvSpPr>
        <p:spPr>
          <a:xfrm>
            <a:off x="722376" y="5276088"/>
            <a:ext cx="201168" cy="201168"/>
          </a:xfrm>
          <a:prstGeom prst="ellipse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212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3F"/>
                </a:solidFill>
                <a:latin typeface="Kanit"/>
              </a:rPr>
              <a:t>🤖 ผู้ช่วย 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0" y="5212080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680"/>
                </a:solidFill>
                <a:latin typeface="Kanit"/>
              </a:rPr>
              <a:t>ถาม-ตอบสภาพอากาศด้วย Google Gemini AI ได้ตลอด 24 ชั่วโมง</a:t>
            </a:r>
          </a:p>
        </p:txBody>
      </p:sp>
      <p:sp>
        <p:nvSpPr>
          <p:cNvPr id="37" name="Oval 36"/>
          <p:cNvSpPr/>
          <p:nvPr/>
        </p:nvSpPr>
        <p:spPr>
          <a:xfrm>
            <a:off x="722376" y="5824727"/>
            <a:ext cx="201168" cy="201168"/>
          </a:xfrm>
          <a:prstGeom prst="ellipse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57607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3F"/>
                </a:solidFill>
                <a:latin typeface="Kanit"/>
              </a:rPr>
              <a:t>🚨 ระบบเตือนภัย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0" y="5760720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680"/>
                </a:solidFill>
                <a:latin typeface="Kanit"/>
              </a:rPr>
              <a:t>ติดตามคะแนนความปลอดภัย ฝุ่น PM2.5 และภัยพิบัติจาก GISTDA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Kanit"/>
              </a:rPr>
              <a:t>หน้าแดชบอร์ดหลัก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EEFF"/>
                </a:solidFill>
                <a:latin typeface="Kanit"/>
              </a:rPr>
              <a:t>ข้อมูลสภาพอากาศ ณ ตำแหน่งปัจจุบันแบบครบถ้วน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57432" y="0"/>
            <a:ext cx="731520" cy="1188720"/>
          </a:xfrm>
          <a:prstGeom prst="rect">
            <a:avLst/>
          </a:prstGeom>
          <a:solidFill>
            <a:srgbClr val="02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03152" y="320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A8E8"/>
                </a:solidFill>
                <a:latin typeface="Kanit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029200" cy="2560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Kanit"/>
              </a:rPr>
              <a:t>📍 กรุงเทพมหานคร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0" b="0" i="0">
                <a:solidFill>
                  <a:srgbClr val="FFFFFF"/>
                </a:solidFill>
                <a:latin typeface="Kanit"/>
              </a:rPr>
              <a:t>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6916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Kanit"/>
              </a:rPr>
              <a:t>33°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346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EEFF"/>
                </a:solidFill>
                <a:latin typeface="Kanit"/>
              </a:rPr>
              <a:t>อากาศดี มีเมฆบางส่วน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461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CCEE"/>
                </a:solidFill>
                <a:latin typeface="Kanit"/>
              </a:rPr>
              <a:t>รู้สึกเหมือน 36°  |  สูงสุด 36°  |  ต่ำสุด 27°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69080"/>
            <a:ext cx="5029200" cy="1051560"/>
          </a:xfrm>
          <a:prstGeom prst="rect">
            <a:avLst/>
          </a:prstGeom>
          <a:solidFill>
            <a:srgbClr val="0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133087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Kanit"/>
              </a:rPr>
              <a:t>🤖  สรุปสภาพอากาศวันนี้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48056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DDFF"/>
                </a:solidFill>
                <a:latin typeface="Kanit"/>
              </a:rPr>
              <a:t>วันนี้อากาศร้อน อุณหภูมิ 33°C รู้สึกเหมือน 36°C
มีโอกาสฝน 40% ช่วงบ่าย ฝุ่น PM2.5 อยู่ในเกณฑ์ปานกลาง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1371600"/>
            <a:ext cx="1920240" cy="1325880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144475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Kanit"/>
              </a:rPr>
              <a:t>☀️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187451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96B0"/>
                </a:solidFill>
                <a:latin typeface="Kanit"/>
              </a:rPr>
              <a:t>รังสี UV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21031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7116"/>
                </a:solidFill>
                <a:latin typeface="Kanit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239572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96B0"/>
                </a:solidFill>
                <a:latin typeface="Kanit"/>
              </a:rPr>
              <a:t>สูงมาก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18120" y="1371600"/>
            <a:ext cx="1920240" cy="1325880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60" y="144475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Kanit"/>
              </a:rPr>
              <a:t>🌫️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187451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96B0"/>
                </a:solidFill>
                <a:latin typeface="Kanit"/>
              </a:rPr>
              <a:t>PM2.5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21031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7116"/>
                </a:solidFill>
                <a:latin typeface="Kanit"/>
              </a:rPr>
              <a:t>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239572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96B0"/>
                </a:solidFill>
                <a:latin typeface="Kanit"/>
              </a:rPr>
              <a:t>µg/m³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66960" y="1371600"/>
            <a:ext cx="1920240" cy="1325880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0" y="144475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Kanit"/>
              </a:rPr>
              <a:t>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187451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96B0"/>
                </a:solidFill>
                <a:latin typeface="Kanit"/>
              </a:rPr>
              <a:t>ความเร็วลม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21031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A8E8"/>
                </a:solidFill>
                <a:latin typeface="Kanit"/>
              </a:rPr>
              <a:t>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239572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96B0"/>
                </a:solidFill>
                <a:latin typeface="Kanit"/>
              </a:rPr>
              <a:t>กม./ชม.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0" y="2834640"/>
            <a:ext cx="1920240" cy="1325880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0" y="290779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Kanit"/>
              </a:rPr>
              <a:t>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33375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96B0"/>
                </a:solidFill>
                <a:latin typeface="Kanit"/>
              </a:rPr>
              <a:t>ความชื้น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0" y="35661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7293"/>
                </a:solidFill>
                <a:latin typeface="Kanit"/>
              </a:rPr>
              <a:t>72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38587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96B0"/>
                </a:solidFill>
                <a:latin typeface="Kanit"/>
              </a:rPr>
              <a:t>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18120" y="2834640"/>
            <a:ext cx="1920240" cy="1325880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09560" y="290779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Kanit"/>
              </a:rPr>
              <a:t>👁️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09560" y="33375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96B0"/>
                </a:solidFill>
                <a:latin typeface="Kanit"/>
              </a:rPr>
              <a:t>ทัศนวิสัย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09560" y="35661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2C55E"/>
                </a:solidFill>
                <a:latin typeface="Kanit"/>
              </a:rPr>
              <a:t>15.2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09560" y="38587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96B0"/>
                </a:solidFill>
                <a:latin typeface="Kanit"/>
              </a:rPr>
              <a:t>กม.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966960" y="2834640"/>
            <a:ext cx="1920240" cy="1325880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0" y="290779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Kanit"/>
              </a:rPr>
              <a:t>🌡️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33375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96B0"/>
                </a:solidFill>
                <a:latin typeface="Kanit"/>
              </a:rPr>
              <a:t>ความกดอากาศ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35661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8B5CF6"/>
                </a:solidFill>
                <a:latin typeface="Kanit"/>
              </a:rPr>
              <a:t>1012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38587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96B0"/>
                </a:solidFill>
                <a:latin typeface="Kanit"/>
              </a:rPr>
              <a:t>hPa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0" y="4069080"/>
            <a:ext cx="6355080" cy="548640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60720" y="4133087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EA5E9"/>
                </a:solidFill>
                <a:latin typeface="Kanit"/>
              </a:rPr>
              <a:t>🔍  เลือกจังหวัด: [เชียงใหม่ ▼]   เลือกอำเภอ: [เมือง ▼]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0" y="4800600"/>
            <a:ext cx="6355080" cy="1234440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06440" y="486460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Kanit"/>
              </a:rPr>
              <a:t>📊 พยากรณ์ 24 ชั่วโมง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97880" y="5760720"/>
            <a:ext cx="548640" cy="2286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97880" y="55046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Kanit"/>
              </a:rPr>
              <a:t>31°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97880" y="598932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96B0"/>
                </a:solidFill>
                <a:latin typeface="Kanit"/>
              </a:rPr>
              <a:t>09:00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12280" y="5486400"/>
            <a:ext cx="548640" cy="5029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12280" y="523036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Kanit"/>
              </a:rPr>
              <a:t>34°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12280" y="598932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96B0"/>
                </a:solidFill>
                <a:latin typeface="Kanit"/>
              </a:rPr>
              <a:t>12:00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726679" y="5349240"/>
            <a:ext cx="548640" cy="64008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26679" y="5093207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Kanit"/>
              </a:rPr>
              <a:t>36°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26679" y="598932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96B0"/>
                </a:solidFill>
                <a:latin typeface="Kanit"/>
              </a:rPr>
              <a:t>15:00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641080" y="5577840"/>
            <a:ext cx="548640" cy="41148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41080" y="5321807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Kanit"/>
              </a:rPr>
              <a:t>33°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41080" y="598932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96B0"/>
                </a:solidFill>
                <a:latin typeface="Kanit"/>
              </a:rPr>
              <a:t>18:00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55480" y="5715000"/>
            <a:ext cx="548640" cy="2743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555480" y="545896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Kanit"/>
              </a:rPr>
              <a:t>30°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55480" y="598932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96B0"/>
                </a:solidFill>
                <a:latin typeface="Kanit"/>
              </a:rPr>
              <a:t>21:00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469880" y="5806440"/>
            <a:ext cx="548640" cy="18288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469880" y="5550407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Kanit"/>
              </a:rPr>
              <a:t>28°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69880" y="598932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96B0"/>
                </a:solidFill>
                <a:latin typeface="Kanit"/>
              </a:rPr>
              <a:t>00:00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Kanit"/>
              </a:rPr>
              <a:t>ข้อมูลสภาพอากาศแบบละเอียด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D9EE"/>
                </a:solidFill>
                <a:latin typeface="Kanit"/>
              </a:rPr>
              <a:t>ตัวชี้วัดสภาพอากาศสำคัญที่ครอบคลุมทุกด้าน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57432" y="0"/>
            <a:ext cx="731520" cy="1188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03152" y="320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Kanit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56616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566160" cy="502920"/>
          </a:xfrm>
          <a:prstGeom prst="rect">
            <a:avLst/>
          </a:prstGeom>
          <a:solidFill>
            <a:srgbClr val="F97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3560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Kanit"/>
              </a:rPr>
              <a:t>☀️ รังสี UV</a:t>
            </a:r>
          </a:p>
        </p:txBody>
      </p:sp>
      <p:sp>
        <p:nvSpPr>
          <p:cNvPr id="10" name="Oval 9"/>
          <p:cNvSpPr/>
          <p:nvPr/>
        </p:nvSpPr>
        <p:spPr>
          <a:xfrm>
            <a:off x="649224" y="2093976"/>
            <a:ext cx="109728" cy="109728"/>
          </a:xfrm>
          <a:prstGeom prst="ellipse">
            <a:avLst/>
          </a:prstGeom>
          <a:solidFill>
            <a:srgbClr val="F97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3F"/>
                </a:solidFill>
                <a:latin typeface="Kanit"/>
              </a:rPr>
              <a:t>ดัชนี UV ตั้งแต่ 0–11+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" y="2596896"/>
            <a:ext cx="109728" cy="109728"/>
          </a:xfrm>
          <a:prstGeom prst="ellipse">
            <a:avLst/>
          </a:prstGeom>
          <a:solidFill>
            <a:srgbClr val="F97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49631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3F"/>
                </a:solidFill>
                <a:latin typeface="Kanit"/>
              </a:rPr>
              <a:t>จัดระดับ: ต่ำ / ปานกลาง / สูง / สูงมาก / อันตราย</a:t>
            </a:r>
          </a:p>
        </p:txBody>
      </p:sp>
      <p:sp>
        <p:nvSpPr>
          <p:cNvPr id="14" name="Oval 13"/>
          <p:cNvSpPr/>
          <p:nvPr/>
        </p:nvSpPr>
        <p:spPr>
          <a:xfrm>
            <a:off x="649224" y="3099816"/>
            <a:ext cx="109728" cy="109728"/>
          </a:xfrm>
          <a:prstGeom prst="ellipse">
            <a:avLst/>
          </a:prstGeom>
          <a:solidFill>
            <a:srgbClr val="F97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99923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3F"/>
                </a:solidFill>
                <a:latin typeface="Kanit"/>
              </a:rPr>
              <a:t>แสดงแถบสีแบบ gradient วัดค่าได้ทันที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1371600"/>
            <a:ext cx="356616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371600"/>
            <a:ext cx="3566160" cy="502920"/>
          </a:xfrm>
          <a:prstGeom prst="rect">
            <a:avLst/>
          </a:prstGeom>
          <a:solidFill>
            <a:srgbClr val="F97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143560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Kanit"/>
              </a:rPr>
              <a:t>🌫️ คุณภาพอากาศ PM2.5</a:t>
            </a:r>
          </a:p>
        </p:txBody>
      </p:sp>
      <p:sp>
        <p:nvSpPr>
          <p:cNvPr id="19" name="Oval 18"/>
          <p:cNvSpPr/>
          <p:nvPr/>
        </p:nvSpPr>
        <p:spPr>
          <a:xfrm>
            <a:off x="4535424" y="2093976"/>
            <a:ext cx="109728" cy="109728"/>
          </a:xfrm>
          <a:prstGeom prst="ellipse">
            <a:avLst/>
          </a:prstGeom>
          <a:solidFill>
            <a:srgbClr val="F97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199339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3F"/>
                </a:solidFill>
                <a:latin typeface="Kanit"/>
              </a:rPr>
              <a:t>วัดค่าฝุ่นละออง PM2.5 (µg/m³)</a:t>
            </a:r>
          </a:p>
        </p:txBody>
      </p:sp>
      <p:sp>
        <p:nvSpPr>
          <p:cNvPr id="21" name="Oval 20"/>
          <p:cNvSpPr/>
          <p:nvPr/>
        </p:nvSpPr>
        <p:spPr>
          <a:xfrm>
            <a:off x="4535424" y="2596896"/>
            <a:ext cx="109728" cy="109728"/>
          </a:xfrm>
          <a:prstGeom prst="ellipse">
            <a:avLst/>
          </a:prstGeom>
          <a:solidFill>
            <a:srgbClr val="F97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249631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3F"/>
                </a:solidFill>
                <a:latin typeface="Kanit"/>
              </a:rPr>
              <a:t>แสดงผลสี: ดี / ปานกลาง / เริ่มมีผล / มีผล / อันตราย</a:t>
            </a:r>
          </a:p>
        </p:txBody>
      </p:sp>
      <p:sp>
        <p:nvSpPr>
          <p:cNvPr id="23" name="Oval 22"/>
          <p:cNvSpPr/>
          <p:nvPr/>
        </p:nvSpPr>
        <p:spPr>
          <a:xfrm>
            <a:off x="4535424" y="3099816"/>
            <a:ext cx="109728" cy="109728"/>
          </a:xfrm>
          <a:prstGeom prst="ellipse">
            <a:avLst/>
          </a:prstGeom>
          <a:solidFill>
            <a:srgbClr val="F97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299923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3F"/>
                </a:solidFill>
                <a:latin typeface="Kanit"/>
              </a:rPr>
              <a:t>ดึงข้อมูลจาก Open-Meteo Air Quality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1371600"/>
            <a:ext cx="356616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1371600"/>
            <a:ext cx="3566160" cy="5029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143560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Kanit"/>
              </a:rPr>
              <a:t>🌧️ โอกาสฝนตก</a:t>
            </a:r>
          </a:p>
        </p:txBody>
      </p:sp>
      <p:sp>
        <p:nvSpPr>
          <p:cNvPr id="28" name="Oval 27"/>
          <p:cNvSpPr/>
          <p:nvPr/>
        </p:nvSpPr>
        <p:spPr>
          <a:xfrm>
            <a:off x="8421624" y="2093976"/>
            <a:ext cx="109728" cy="109728"/>
          </a:xfrm>
          <a:prstGeom prst="ellipse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0" y="199339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3F"/>
                </a:solidFill>
                <a:latin typeface="Kanit"/>
              </a:rPr>
              <a:t>แสดงเปอร์เซ็นต์โอกาสฝนตกรายชั่วโมง</a:t>
            </a:r>
          </a:p>
        </p:txBody>
      </p:sp>
      <p:sp>
        <p:nvSpPr>
          <p:cNvPr id="30" name="Oval 29"/>
          <p:cNvSpPr/>
          <p:nvPr/>
        </p:nvSpPr>
        <p:spPr>
          <a:xfrm>
            <a:off x="8421624" y="2596896"/>
            <a:ext cx="109728" cy="109728"/>
          </a:xfrm>
          <a:prstGeom prst="ellipse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0" y="249631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3F"/>
                </a:solidFill>
                <a:latin typeface="Kanit"/>
              </a:rPr>
              <a:t>ปริมาณฝนสะสม (มม.) รายวัน</a:t>
            </a:r>
          </a:p>
        </p:txBody>
      </p:sp>
      <p:sp>
        <p:nvSpPr>
          <p:cNvPr id="32" name="Oval 31"/>
          <p:cNvSpPr/>
          <p:nvPr/>
        </p:nvSpPr>
        <p:spPr>
          <a:xfrm>
            <a:off x="8421624" y="3099816"/>
            <a:ext cx="109728" cy="109728"/>
          </a:xfrm>
          <a:prstGeom prst="ellipse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0" y="299923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3F"/>
                </a:solidFill>
                <a:latin typeface="Kanit"/>
              </a:rPr>
              <a:t>ไอคอนสภาพอากาศเปลี่ยนตามค่าจริง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931920"/>
            <a:ext cx="356616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3931920"/>
            <a:ext cx="3566160" cy="5029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39959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Kanit"/>
              </a:rPr>
              <a:t>💨 ข้อมูลลม</a:t>
            </a:r>
          </a:p>
        </p:txBody>
      </p:sp>
      <p:sp>
        <p:nvSpPr>
          <p:cNvPr id="37" name="Oval 36"/>
          <p:cNvSpPr/>
          <p:nvPr/>
        </p:nvSpPr>
        <p:spPr>
          <a:xfrm>
            <a:off x="649224" y="4654296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455371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3F"/>
                </a:solidFill>
                <a:latin typeface="Kanit"/>
              </a:rPr>
              <a:t>ความเร็วลม (กม./ชม.)</a:t>
            </a:r>
          </a:p>
        </p:txBody>
      </p:sp>
      <p:sp>
        <p:nvSpPr>
          <p:cNvPr id="39" name="Oval 38"/>
          <p:cNvSpPr/>
          <p:nvPr/>
        </p:nvSpPr>
        <p:spPr>
          <a:xfrm>
            <a:off x="649224" y="5157216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5056631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3F"/>
                </a:solidFill>
                <a:latin typeface="Kanit"/>
              </a:rPr>
              <a:t>ทิศทางลม แสดงด้วยเข็มทิศ Interactive</a:t>
            </a:r>
          </a:p>
        </p:txBody>
      </p:sp>
      <p:sp>
        <p:nvSpPr>
          <p:cNvPr id="41" name="Oval 40"/>
          <p:cNvSpPr/>
          <p:nvPr/>
        </p:nvSpPr>
        <p:spPr>
          <a:xfrm>
            <a:off x="649224" y="5660136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555955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3F"/>
                </a:solidFill>
                <a:latin typeface="Kanit"/>
              </a:rPr>
              <a:t>หมุนตามทิศทางลมจริง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43400" y="3931920"/>
            <a:ext cx="356616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343400" y="3931920"/>
            <a:ext cx="3566160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80560" y="39959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Kanit"/>
              </a:rPr>
              <a:t>💧 ความชื้น</a:t>
            </a:r>
          </a:p>
        </p:txBody>
      </p:sp>
      <p:sp>
        <p:nvSpPr>
          <p:cNvPr id="46" name="Oval 45"/>
          <p:cNvSpPr/>
          <p:nvPr/>
        </p:nvSpPr>
        <p:spPr>
          <a:xfrm>
            <a:off x="4535424" y="4654296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09160" y="455371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3F"/>
                </a:solidFill>
                <a:latin typeface="Kanit"/>
              </a:rPr>
              <a:t>ความชื้นสัมพัทธ์ (%)</a:t>
            </a:r>
          </a:p>
        </p:txBody>
      </p:sp>
      <p:sp>
        <p:nvSpPr>
          <p:cNvPr id="48" name="Oval 47"/>
          <p:cNvSpPr/>
          <p:nvPr/>
        </p:nvSpPr>
        <p:spPr>
          <a:xfrm>
            <a:off x="4535424" y="5157216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09160" y="5056631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3F"/>
                </a:solidFill>
                <a:latin typeface="Kanit"/>
              </a:rPr>
              <a:t>ประกอบการคำนวณอุณหภูมิที่รู้สึก (Feels Like)</a:t>
            </a:r>
          </a:p>
        </p:txBody>
      </p:sp>
      <p:sp>
        <p:nvSpPr>
          <p:cNvPr id="50" name="Oval 49"/>
          <p:cNvSpPr/>
          <p:nvPr/>
        </p:nvSpPr>
        <p:spPr>
          <a:xfrm>
            <a:off x="4535424" y="5660136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09160" y="555955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3F"/>
                </a:solidFill>
                <a:latin typeface="Kanit"/>
              </a:rPr>
              <a:t>ดึงข้อมูลจาก TMD และ Open-Meteo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0" y="3931920"/>
            <a:ext cx="356616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29600" y="3931920"/>
            <a:ext cx="3566160" cy="5029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66760" y="39959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Kanit"/>
              </a:rPr>
              <a:t>🌅 พระอาทิตย์ขึ้น/ตก</a:t>
            </a:r>
          </a:p>
        </p:txBody>
      </p:sp>
      <p:sp>
        <p:nvSpPr>
          <p:cNvPr id="55" name="Oval 54"/>
          <p:cNvSpPr/>
          <p:nvPr/>
        </p:nvSpPr>
        <p:spPr>
          <a:xfrm>
            <a:off x="8421624" y="4654296"/>
            <a:ext cx="109728" cy="109728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95360" y="455371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3F"/>
                </a:solidFill>
                <a:latin typeface="Kanit"/>
              </a:rPr>
              <a:t>แสดง Arc animation ของดวงอาทิตย์</a:t>
            </a:r>
          </a:p>
        </p:txBody>
      </p:sp>
      <p:sp>
        <p:nvSpPr>
          <p:cNvPr id="57" name="Oval 56"/>
          <p:cNvSpPr/>
          <p:nvPr/>
        </p:nvSpPr>
        <p:spPr>
          <a:xfrm>
            <a:off x="8421624" y="5157216"/>
            <a:ext cx="109728" cy="109728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95360" y="5056631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3F"/>
                </a:solidFill>
                <a:latin typeface="Kanit"/>
              </a:rPr>
              <a:t>เวลาพระอาทิตย์ขึ้นและตกแบบแม่นยำ</a:t>
            </a:r>
          </a:p>
        </p:txBody>
      </p:sp>
      <p:sp>
        <p:nvSpPr>
          <p:cNvPr id="59" name="Oval 58"/>
          <p:cNvSpPr/>
          <p:nvPr/>
        </p:nvSpPr>
        <p:spPr>
          <a:xfrm>
            <a:off x="8421624" y="5660136"/>
            <a:ext cx="109728" cy="109728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95360" y="555955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3F"/>
                </a:solidFill>
                <a:latin typeface="Kanit"/>
              </a:rPr>
              <a:t>คำนวณตามพิกัด GPS ปัจจุบัน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Kanit"/>
              </a:rPr>
              <a:t>พยากรณ์อากาศ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D9EE"/>
                </a:solidFill>
                <a:latin typeface="Kanit"/>
              </a:rPr>
              <a:t>ดูแนวโน้มสภาพอากาศล่วงหน้า 24 ชั่วโมง และ 7 วัน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57432" y="0"/>
            <a:ext cx="731520" cy="1188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03152" y="320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Kanit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7315200" cy="2194560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Kanit"/>
              </a:rPr>
              <a:t>📈 พยากรณ์รายชั่วโมง (24 ชม.)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956560"/>
            <a:ext cx="320040" cy="2895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70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Kanit"/>
              </a:rPr>
              <a:t>30°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4612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96B0"/>
                </a:solidFill>
                <a:latin typeface="Kanit"/>
              </a:rPr>
              <a:t>09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2416" y="2875280"/>
            <a:ext cx="320040" cy="37084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61924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Kanit"/>
              </a:rPr>
              <a:t>31°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24612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96B0"/>
                </a:solidFill>
                <a:latin typeface="Kanit"/>
              </a:rPr>
              <a:t>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17904" y="2794000"/>
            <a:ext cx="320040" cy="4521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99616" y="2537967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Kanit"/>
              </a:rPr>
              <a:t>32°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9616" y="324612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96B0"/>
                </a:solidFill>
                <a:latin typeface="Kanit"/>
              </a:rPr>
              <a:t>11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93392" y="2631439"/>
            <a:ext cx="320040" cy="61468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75104" y="2375407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Kanit"/>
              </a:rPr>
              <a:t>34°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324612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96B0"/>
                </a:solidFill>
                <a:latin typeface="Kanit"/>
              </a:rPr>
              <a:t>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0" y="2550160"/>
            <a:ext cx="320040" cy="695960"/>
          </a:xfrm>
          <a:prstGeom prst="rect">
            <a:avLst/>
          </a:prstGeom>
          <a:solidFill>
            <a:srgbClr val="F97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50592" y="2294127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Kanit"/>
              </a:rPr>
              <a:t>35°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50592" y="324612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96B0"/>
                </a:solidFill>
                <a:latin typeface="Kanit"/>
              </a:rPr>
              <a:t>13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44368" y="2468879"/>
            <a:ext cx="320040" cy="777240"/>
          </a:xfrm>
          <a:prstGeom prst="rect">
            <a:avLst/>
          </a:prstGeom>
          <a:solidFill>
            <a:srgbClr val="F97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0" y="221284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Kanit"/>
              </a:rPr>
              <a:t>36°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324612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96B0"/>
                </a:solidFill>
                <a:latin typeface="Kanit"/>
              </a:rPr>
              <a:t>14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19856" y="2550160"/>
            <a:ext cx="320040" cy="695960"/>
          </a:xfrm>
          <a:prstGeom prst="rect">
            <a:avLst/>
          </a:prstGeom>
          <a:solidFill>
            <a:srgbClr val="F97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01568" y="2294127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Kanit"/>
              </a:rPr>
              <a:t>35°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01568" y="324612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96B0"/>
                </a:solidFill>
                <a:latin typeface="Kanit"/>
              </a:rPr>
              <a:t>15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95344" y="2631439"/>
            <a:ext cx="320040" cy="61468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77056" y="2375407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Kanit"/>
              </a:rPr>
              <a:t>34°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77056" y="324612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96B0"/>
                </a:solidFill>
                <a:latin typeface="Kanit"/>
              </a:rPr>
              <a:t>16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70832" y="2794000"/>
            <a:ext cx="320040" cy="4521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52544" y="2537967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Kanit"/>
              </a:rPr>
              <a:t>32°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52544" y="324612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96B0"/>
                </a:solidFill>
                <a:latin typeface="Kanit"/>
              </a:rPr>
              <a:t>17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0" y="2956560"/>
            <a:ext cx="320040" cy="2895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28032" y="270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Kanit"/>
              </a:rPr>
              <a:t>30°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28032" y="324612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96B0"/>
                </a:solidFill>
                <a:latin typeface="Kanit"/>
              </a:rPr>
              <a:t>18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21808" y="3037839"/>
            <a:ext cx="320040" cy="20828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0" y="2781807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Kanit"/>
              </a:rPr>
              <a:t>29°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0" y="324612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96B0"/>
                </a:solidFill>
                <a:latin typeface="Kanit"/>
              </a:rPr>
              <a:t>19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97296" y="3119120"/>
            <a:ext cx="320040" cy="127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79008" y="286308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Kanit"/>
              </a:rPr>
              <a:t>28°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79008" y="324612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96B0"/>
                </a:solidFill>
                <a:latin typeface="Kanit"/>
              </a:rPr>
              <a:t>20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72784" y="3200400"/>
            <a:ext cx="320040" cy="45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54496" y="294436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Kanit"/>
              </a:rPr>
              <a:t>27°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54496" y="324612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96B0"/>
                </a:solidFill>
                <a:latin typeface="Kanit"/>
              </a:rPr>
              <a:t>21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48272" y="3200400"/>
            <a:ext cx="320040" cy="45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29984" y="294436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Kanit"/>
              </a:rPr>
              <a:t>27°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9984" y="324612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96B0"/>
                </a:solidFill>
                <a:latin typeface="Kanit"/>
              </a:rPr>
              <a:t>22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345643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0A5FA"/>
                </a:solidFill>
                <a:latin typeface="Kanit"/>
              </a:rPr>
              <a:t>⛈️ โอกาสฝนตกสูงสุด 65% ช่วง 16:00–18:00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0" y="1371600"/>
            <a:ext cx="3611880" cy="2194560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66760" y="14173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Kanit"/>
              </a:rPr>
              <a:t>🗓️ 7 วันข้างหน้า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1874519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96B0"/>
                </a:solidFill>
                <a:latin typeface="Kanit"/>
              </a:rPr>
              <a:t>วันนี้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1874519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Kanit"/>
              </a:rPr>
              <a:t>⛅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55480" y="1874519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7116"/>
                </a:solidFill>
                <a:latin typeface="Kanit"/>
              </a:rPr>
              <a:t>36°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41280" y="1874519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A8E8"/>
                </a:solidFill>
                <a:latin typeface="Kanit"/>
              </a:rPr>
              <a:t>27°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66760" y="213055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96B0"/>
                </a:solidFill>
                <a:latin typeface="Kanit"/>
              </a:rPr>
              <a:t>พรุ่งนี้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0" y="213055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Kanit"/>
              </a:rPr>
              <a:t>🌧️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55480" y="213055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7116"/>
                </a:solidFill>
                <a:latin typeface="Kanit"/>
              </a:rPr>
              <a:t>33°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41280" y="213055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A8E8"/>
                </a:solidFill>
                <a:latin typeface="Kanit"/>
              </a:rPr>
              <a:t>26°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66760" y="238658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96B0"/>
                </a:solidFill>
                <a:latin typeface="Kanit"/>
              </a:rPr>
              <a:t>พ.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0" y="238658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Kanit"/>
              </a:rPr>
              <a:t>☀️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55480" y="238658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7116"/>
                </a:solidFill>
                <a:latin typeface="Kanit"/>
              </a:rPr>
              <a:t>37°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41280" y="238658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A8E8"/>
                </a:solidFill>
                <a:latin typeface="Kanit"/>
              </a:rPr>
              <a:t>28°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66760" y="2642615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96B0"/>
                </a:solidFill>
                <a:latin typeface="Kanit"/>
              </a:rPr>
              <a:t>พฤ.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4000" y="2642615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Kanit"/>
              </a:rPr>
              <a:t>🌤️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555480" y="2642615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7116"/>
                </a:solidFill>
                <a:latin typeface="Kanit"/>
              </a:rPr>
              <a:t>35°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241280" y="2642615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A8E8"/>
                </a:solidFill>
                <a:latin typeface="Kanit"/>
              </a:rPr>
              <a:t>27°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66760" y="28986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96B0"/>
                </a:solidFill>
                <a:latin typeface="Kanit"/>
              </a:rPr>
              <a:t>ศ.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44000" y="289864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Kanit"/>
              </a:rPr>
              <a:t>⛈️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555480" y="28986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7116"/>
                </a:solidFill>
                <a:latin typeface="Kanit"/>
              </a:rPr>
              <a:t>31°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241280" y="28986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A8E8"/>
                </a:solidFill>
                <a:latin typeface="Kanit"/>
              </a:rPr>
              <a:t>25°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66760" y="3154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96B0"/>
                </a:solidFill>
                <a:latin typeface="Kanit"/>
              </a:rPr>
              <a:t>ส.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44000" y="315468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Kanit"/>
              </a:rPr>
              <a:t>☀️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555480" y="315468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7116"/>
                </a:solidFill>
                <a:latin typeface="Kanit"/>
              </a:rPr>
              <a:t>38°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241280" y="315468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A8E8"/>
                </a:solidFill>
                <a:latin typeface="Kanit"/>
              </a:rPr>
              <a:t>29°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66760" y="341071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96B0"/>
                </a:solidFill>
                <a:latin typeface="Kanit"/>
              </a:rPr>
              <a:t>อา.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144000" y="341071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Kanit"/>
              </a:rPr>
              <a:t>⛅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555480" y="341071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7116"/>
                </a:solidFill>
                <a:latin typeface="Kanit"/>
              </a:rPr>
              <a:t>34°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241280" y="341071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A8E8"/>
                </a:solidFill>
                <a:latin typeface="Kanit"/>
              </a:rPr>
              <a:t>26°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57200" y="3749039"/>
            <a:ext cx="11384280" cy="2651760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94360" y="3794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Kanit"/>
              </a:rPr>
              <a:t>🏃 คำแนะนำกิจกรรม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94360" y="4251960"/>
            <a:ext cx="2606040" cy="1097280"/>
          </a:xfrm>
          <a:prstGeom prst="rect">
            <a:avLst/>
          </a:prstGeom>
          <a:solidFill>
            <a:srgbClr val="0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85800" y="4297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Kanit"/>
              </a:rPr>
              <a:t>🏊 ว่ายน้ำ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85800" y="4681728"/>
            <a:ext cx="1188720" cy="274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85800" y="46817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Kanit"/>
              </a:rPr>
              <a:t>เหมาะสม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5800" y="50292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96B0"/>
                </a:solidFill>
                <a:latin typeface="Kanit"/>
              </a:rPr>
              <a:t>อุณหภูมิเหมาะกับการว่ายน้ำกลางแจ้ง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383279" y="4251960"/>
            <a:ext cx="2606040" cy="1097280"/>
          </a:xfrm>
          <a:prstGeom prst="rect">
            <a:avLst/>
          </a:prstGeom>
          <a:solidFill>
            <a:srgbClr val="0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474720" y="4297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Kanit"/>
              </a:rPr>
              <a:t>🏃 วิ่งออกกำลังกาย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474720" y="4681728"/>
            <a:ext cx="1188720" cy="2743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474720" y="46817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Kanit"/>
              </a:rPr>
              <a:t>เช้าเท่านั้น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474720" y="50292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96B0"/>
                </a:solidFill>
                <a:latin typeface="Kanit"/>
              </a:rPr>
              <a:t>แนะนำเฉพาะเช้าตรู่ก่อน 8 โมง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72200" y="4251960"/>
            <a:ext cx="2606040" cy="1097280"/>
          </a:xfrm>
          <a:prstGeom prst="rect">
            <a:avLst/>
          </a:prstGeom>
          <a:solidFill>
            <a:srgbClr val="0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263640" y="4297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Kanit"/>
              </a:rPr>
              <a:t>🌿 กิจกรรมกลางแจ้ง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263640" y="4681728"/>
            <a:ext cx="1188720" cy="274320"/>
          </a:xfrm>
          <a:prstGeom prst="rect">
            <a:avLst/>
          </a:prstGeom>
          <a:solidFill>
            <a:srgbClr val="F97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263640" y="46817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Kanit"/>
              </a:rPr>
              <a:t>ระมัดระวัง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263640" y="50292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96B0"/>
                </a:solidFill>
                <a:latin typeface="Kanit"/>
              </a:rPr>
              <a:t>UV สูง ควรทาครีมกันแดด SPF50+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961119" y="4251960"/>
            <a:ext cx="2606040" cy="1097280"/>
          </a:xfrm>
          <a:prstGeom prst="rect">
            <a:avLst/>
          </a:prstGeom>
          <a:solidFill>
            <a:srgbClr val="0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052559" y="4297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Kanit"/>
              </a:rPr>
              <a:t>😷 ผู้ป่วยทางเดินหายใจ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052559" y="4681728"/>
            <a:ext cx="1188720" cy="274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052559" y="46817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Kanit"/>
              </a:rPr>
              <a:t>ควรระวัง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052559" y="50292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96B0"/>
                </a:solidFill>
                <a:latin typeface="Kanit"/>
              </a:rPr>
              <a:t>PM2.5 สูงเกินมาตรฐาน WHO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Kanit"/>
              </a:rPr>
              <a:t>🤖 ผู้ช่วย AI อัจฉริยะ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CCFF"/>
                </a:solidFill>
                <a:latin typeface="Kanit"/>
              </a:rPr>
              <a:t>ขับเคลื่อนด้วย Google Gemini AI — ถามอะไรก็ได้เกี่ยวกับสภาพอากาศ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57432" y="0"/>
            <a:ext cx="731520" cy="118872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03152" y="320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Kanit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94360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3F"/>
                </a:solidFill>
                <a:latin typeface="Kanit"/>
              </a:rPr>
              <a:t>💬 AI Chat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920240"/>
            <a:ext cx="3749039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19842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Kanit"/>
              </a:rPr>
              <a:t>🙋 วันนี้ควรพกร่มไหมครับ?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606040"/>
            <a:ext cx="4663440" cy="1005840"/>
          </a:xfrm>
          <a:prstGeom prst="rect">
            <a:avLst/>
          </a:prstGeom>
          <a:solidFill>
            <a:srgbClr val="F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517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E3F"/>
                </a:solidFill>
                <a:latin typeface="Kanit"/>
              </a:rPr>
              <a:t>🤖 ขอแนะนำให้พกร่มเผื่อไว้ครับ!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44368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3377"/>
                </a:solidFill>
                <a:latin typeface="Kanit"/>
              </a:rPr>
              <a:t>โอกาสฝนตกช่วงบ่ายสูงถึง 65%
ฝนอาจตกหนักบริเวณกรุงเทพตะวันออก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3794760"/>
            <a:ext cx="3749039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6040" y="38587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Kanit"/>
              </a:rPr>
              <a:t>🙋 PM2.5 วันนี้เป็นยังไงบ้าง?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4480560"/>
            <a:ext cx="4663440" cy="868680"/>
          </a:xfrm>
          <a:prstGeom prst="rect">
            <a:avLst/>
          </a:prstGeom>
          <a:solidFill>
            <a:srgbClr val="F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5262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E3F"/>
                </a:solidFill>
                <a:latin typeface="Kanit"/>
              </a:rPr>
              <a:t>🤖 PM2.5 อยู่ที่ 45 µg/m³ — ระดับปานกลาง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2803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3377"/>
                </a:solidFill>
                <a:latin typeface="Kanit"/>
              </a:rPr>
              <a:t>ผู้ที่มีโรคระบบทางเดินหายใจควรสวมหน้ากากอนามัย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5760720"/>
            <a:ext cx="5212080" cy="502920"/>
          </a:xfrm>
          <a:prstGeom prst="rect">
            <a:avLst/>
          </a:prstGeom>
          <a:solidFill>
            <a:srgbClr val="EE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82472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ACC"/>
                </a:solidFill>
                <a:latin typeface="Kanit"/>
              </a:rPr>
              <a:t>✏️ พิมพ์คำถามของคุณ...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1417320"/>
            <a:ext cx="5029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1417320"/>
            <a:ext cx="640080" cy="8229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158191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Kanit"/>
              </a:rPr>
              <a:t>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14630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2E3F"/>
                </a:solidFill>
                <a:latin typeface="Kanit"/>
              </a:rPr>
              <a:t>วิเคราะห์สภาพอากาศ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1801368"/>
            <a:ext cx="4114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77"/>
                </a:solidFill>
                <a:latin typeface="Kanit"/>
              </a:rPr>
              <a:t>AI อ่านข้อมูล real-time แล้ววิเคราะห์แนวโน้มสภาพอากาศให้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2377440"/>
            <a:ext cx="5029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2377440"/>
            <a:ext cx="640080" cy="8229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254203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Kanit"/>
              </a:rPr>
              <a:t>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242316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2E3F"/>
                </a:solidFill>
                <a:latin typeface="Kanit"/>
              </a:rPr>
              <a:t>พยากรณ์ล่วงหน้า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2761488"/>
            <a:ext cx="4114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77"/>
                </a:solidFill>
                <a:latin typeface="Kanit"/>
              </a:rPr>
              <a:t>ถามได้ถึง 7 วัน เลือกจังหวัดและวันที่ได้อย่างอิสระ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3337560"/>
            <a:ext cx="5029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75120" y="3337560"/>
            <a:ext cx="640080" cy="8229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350215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Kanit"/>
              </a:rPr>
              <a:t>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338328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2E3F"/>
                </a:solidFill>
                <a:latin typeface="Kanit"/>
              </a:rPr>
              <a:t>คำแนะนำสุขภาพ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3721608"/>
            <a:ext cx="4114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77"/>
                </a:solidFill>
                <a:latin typeface="Kanit"/>
              </a:rPr>
              <a:t>รับคำแนะนำสำหรับผู้ป่วย ผู้สูงอายุ และเด็กเล็กโดยเฉพาะ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4297680"/>
            <a:ext cx="5029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675120" y="4297680"/>
            <a:ext cx="640080" cy="8229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446227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Kanit"/>
              </a:rPr>
              <a:t>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43434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2E3F"/>
                </a:solidFill>
                <a:latin typeface="Kanit"/>
              </a:rPr>
              <a:t>แนะนำกิจกรรม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4681728"/>
            <a:ext cx="4114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77"/>
                </a:solidFill>
                <a:latin typeface="Kanit"/>
              </a:rPr>
              <a:t>AI แนะนำกิจกรรมที่เหมาะกับสภาพอากาศในแต่ละวัน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75120" y="5257800"/>
            <a:ext cx="5029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675120" y="5257800"/>
            <a:ext cx="640080" cy="8229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542239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Kanit"/>
              </a:rPr>
              <a:t>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0" y="530352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2E3F"/>
                </a:solidFill>
                <a:latin typeface="Kanit"/>
              </a:rPr>
              <a:t>สรุปรายวัน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5641848"/>
            <a:ext cx="4114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77"/>
                </a:solidFill>
                <a:latin typeface="Kanit"/>
              </a:rPr>
              <a:t>สรุปสภาพอากาศรายวันอัตโนมัติ ทุกเช้าพร้อมใช้งาน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75120" y="6309360"/>
            <a:ext cx="5029200" cy="457200"/>
          </a:xfrm>
          <a:prstGeom prst="rect">
            <a:avLst/>
          </a:prstGeom>
          <a:solidFill>
            <a:srgbClr val="4B0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5120" y="6355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Kanit"/>
              </a:rPr>
              <a:t>✨ Powered by Google Gemini API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Kanit"/>
              </a:rPr>
              <a:t>🗺️ แผนที่ประเทศไทย Interactive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FFDD"/>
                </a:solidFill>
                <a:latin typeface="Kanit"/>
              </a:rPr>
              <a:t>แสดงข้อมูลสภาพอากาศของทุก 77 จังหวัดบนแผนที่เดียว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57432" y="0"/>
            <a:ext cx="731520" cy="118872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03152" y="320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Kanit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5943600" cy="5120640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1554480"/>
            <a:ext cx="4114800" cy="27432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0" y="4297680"/>
            <a:ext cx="2286000" cy="9144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0" y="5212080"/>
            <a:ext cx="1371600" cy="9144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08960" y="1737360"/>
            <a:ext cx="182880" cy="1828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54680" y="1783080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749040" y="2468879"/>
            <a:ext cx="182880" cy="182880"/>
          </a:xfrm>
          <a:prstGeom prst="ellipse">
            <a:avLst/>
          </a:prstGeom>
          <a:solidFill>
            <a:srgbClr val="F97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94760" y="2514600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68879" y="3108960"/>
            <a:ext cx="182880" cy="182880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14600" y="3154680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194560" y="4023360"/>
            <a:ext cx="182880" cy="1828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240280" y="4069080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920240" y="4937760"/>
            <a:ext cx="182880" cy="182880"/>
          </a:xfrm>
          <a:prstGeom prst="ellipse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965960" y="4983480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194560" y="5669280"/>
            <a:ext cx="182880" cy="1828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240280" y="5715000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5840" y="6035040"/>
            <a:ext cx="5669280" cy="384048"/>
          </a:xfrm>
          <a:prstGeom prst="rect">
            <a:avLst/>
          </a:prstGeom>
          <a:solidFill>
            <a:srgbClr val="0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608076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4444"/>
                </a:solidFill>
                <a:latin typeface="Kanit"/>
              </a:rPr>
              <a:t>🔴 &gt; 36°C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76272" y="608076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97116"/>
                </a:solidFill>
                <a:latin typeface="Kanit"/>
              </a:rPr>
              <a:t>🟠 33–35°C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55263" y="608076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AB308"/>
                </a:solidFill>
                <a:latin typeface="Kanit"/>
              </a:rPr>
              <a:t>🟡 30–32°C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34256" y="608076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C55E"/>
                </a:solidFill>
                <a:latin typeface="Kanit"/>
              </a:rPr>
              <a:t>🟢 &lt; 30°C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13248" y="608076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A8E8"/>
                </a:solidFill>
                <a:latin typeface="Kanit"/>
              </a:rPr>
              <a:t>🔵 มีฝน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60" y="1417320"/>
            <a:ext cx="4572000" cy="713232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60920" y="1472184"/>
            <a:ext cx="4206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A8E8"/>
                </a:solidFill>
                <a:latin typeface="Kanit"/>
              </a:rPr>
              <a:t>🖱️ Interactive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1764792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96B0"/>
                </a:solidFill>
                <a:latin typeface="Kanit"/>
              </a:rPr>
              <a:t>คลิกแต่ละจังหวัดเพื่อดูข้อมูลโดยละเอียด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3760" y="2267712"/>
            <a:ext cx="4572000" cy="713232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60920" y="2322576"/>
            <a:ext cx="4206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A8E8"/>
                </a:solidFill>
                <a:latin typeface="Kanit"/>
              </a:rPr>
              <a:t>🎨 Color Coding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2615184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96B0"/>
                </a:solidFill>
                <a:latin typeface="Kanit"/>
              </a:rPr>
              <a:t>สีแสดงระดับอุณหภูมิหรือ PM2.5 แบบ Real-time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23760" y="3118104"/>
            <a:ext cx="4572000" cy="713232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60920" y="3172968"/>
            <a:ext cx="4206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A8E8"/>
                </a:solidFill>
                <a:latin typeface="Kanit"/>
              </a:rPr>
              <a:t>🔍 Zoom ได้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60920" y="3465576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96B0"/>
                </a:solidFill>
                <a:latin typeface="Kanit"/>
              </a:rPr>
              <a:t>ซูมเข้าดูรายละเอียดรายจังหวัดได้อย่างอิสระ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23760" y="3968496"/>
            <a:ext cx="4572000" cy="713232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60920" y="4023359"/>
            <a:ext cx="4206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A8E8"/>
                </a:solidFill>
                <a:latin typeface="Kanit"/>
              </a:rPr>
              <a:t>📌 Hotspot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20" y="431596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96B0"/>
                </a:solidFill>
                <a:latin typeface="Kanit"/>
              </a:rPr>
              <a:t>แสดงจุดความร้อนจาก GISTDA (ไฟป่า)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60" y="4818888"/>
            <a:ext cx="4572000" cy="713232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60920" y="4873752"/>
            <a:ext cx="4206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A8E8"/>
                </a:solidFill>
                <a:latin typeface="Kanit"/>
              </a:rPr>
              <a:t>🌡️ สถานีอากาศ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0920" y="5166360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96B0"/>
                </a:solidFill>
                <a:latin typeface="Kanit"/>
              </a:rPr>
              <a:t>แสดงสถานีตรวจอากาศของกรมอุตุนิยมวิทยา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23760" y="5669280"/>
            <a:ext cx="4572000" cy="713232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60920" y="5724144"/>
            <a:ext cx="4206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A8E8"/>
                </a:solidFill>
                <a:latin typeface="Kanit"/>
              </a:rPr>
              <a:t>🏙️ 77 จังหวัด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20" y="6016752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96B0"/>
                </a:solidFill>
                <a:latin typeface="Kanit"/>
              </a:rPr>
              <a:t>ครอบคลุมทุกจังหวัดใน 6 ภูมิภาคของไทย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23760" y="6492240"/>
            <a:ext cx="4572000" cy="36576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2376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Kanit"/>
              </a:rPr>
              <a:t>🔧 Leaflet.js + OpenStreetMap + GeoJSON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Kanit"/>
              </a:rPr>
              <a:t>🚨 ระบบเตือนภัยและความปลอดภัย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CCC"/>
                </a:solidFill>
                <a:latin typeface="Kanit"/>
              </a:rPr>
              <a:t>ติดตามสถานการณ์ภัยพิบัติจาก GISTDA และคะแนนความปลอดภัย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57432" y="0"/>
            <a:ext cx="731520" cy="118872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03152" y="320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Kanit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447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3F"/>
                </a:solidFill>
                <a:latin typeface="Kanit"/>
              </a:rPr>
              <a:t>🛡️ คะแนนความปลอดภัย</a:t>
            </a:r>
          </a:p>
        </p:txBody>
      </p:sp>
      <p:sp>
        <p:nvSpPr>
          <p:cNvPr id="9" name="Oval 8"/>
          <p:cNvSpPr/>
          <p:nvPr/>
        </p:nvSpPr>
        <p:spPr>
          <a:xfrm>
            <a:off x="1280160" y="2011680"/>
            <a:ext cx="1828800" cy="1828800"/>
          </a:xfrm>
          <a:prstGeom prst="ellipse">
            <a:avLst/>
          </a:prstGeom>
          <a:solidFill>
            <a:srgbClr val="EE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63039" y="2194560"/>
            <a:ext cx="1463040" cy="1463040"/>
          </a:xfrm>
          <a:prstGeom prst="ellipse">
            <a:avLst/>
          </a:prstGeom>
          <a:solidFill>
            <a:srgbClr val="F97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45919" y="2377440"/>
            <a:ext cx="1097280" cy="1097280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828800" y="2560320"/>
            <a:ext cx="731520" cy="7315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943100" y="267462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74519" y="274320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E3F"/>
                </a:solidFill>
                <a:latin typeface="Kanit"/>
              </a:rPr>
              <a:t>65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1546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  <a:latin typeface="Kanit"/>
              </a:rPr>
              <a:t>/100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60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AB308"/>
                </a:solidFill>
                <a:latin typeface="Kanit"/>
              </a:rPr>
              <a:t>⚠️ ควรระวัง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1417320"/>
            <a:ext cx="77724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06240" y="1417320"/>
            <a:ext cx="640080" cy="10972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167335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Kanit"/>
              </a:rPr>
              <a:t>🔥 ไฟป่า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149047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2E3F"/>
                </a:solidFill>
                <a:latin typeface="Kanit"/>
              </a:rPr>
              <a:t>จุดความร้อน (Hotspot)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181965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5577"/>
                </a:solidFill>
                <a:latin typeface="Kanit"/>
              </a:rPr>
              <a:t>ภาคเหนือ เชียงราย แม่ฮ่องสอน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0" y="1645920"/>
            <a:ext cx="2194560" cy="594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164592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Kanit"/>
              </a:rPr>
              <a:t>พบ 24 จุด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2651760"/>
            <a:ext cx="77724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06240" y="2651760"/>
            <a:ext cx="640080" cy="1097280"/>
          </a:xfrm>
          <a:prstGeom prst="rect">
            <a:avLst/>
          </a:prstGeom>
          <a:solidFill>
            <a:srgbClr val="F97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0" y="290779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Kanit"/>
              </a:rPr>
              <a:t>💨 หมอกควัน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272491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2E3F"/>
                </a:solidFill>
                <a:latin typeface="Kanit"/>
              </a:rPr>
              <a:t>PM2.5 สูงเกินมาตรฐาน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305409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5577"/>
                </a:solidFill>
                <a:latin typeface="Kanit"/>
              </a:rPr>
              <a:t>ค่าเฉลี่ย 78 µg/m³ (อันตราย)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0" y="2880360"/>
            <a:ext cx="2194560" cy="594360"/>
          </a:xfrm>
          <a:prstGeom prst="rect">
            <a:avLst/>
          </a:prstGeom>
          <a:solidFill>
            <a:srgbClr val="F97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0" y="288036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Kanit"/>
              </a:rPr>
              <a:t>12 จังหวัด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3886200"/>
            <a:ext cx="77724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06240" y="3886200"/>
            <a:ext cx="640080" cy="109728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40" y="41422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Kanit"/>
              </a:rPr>
              <a:t>🌊 น้ำท่วม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395935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2E3F"/>
                </a:solidFill>
                <a:latin typeface="Kanit"/>
              </a:rPr>
              <a:t>พื้นที่เสี่ยงน้ำท่วม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428853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5577"/>
                </a:solidFill>
                <a:latin typeface="Kanit"/>
              </a:rPr>
              <a:t>ภาคใต้ สุราษฎร์ธานี นครฯ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0" y="4114800"/>
            <a:ext cx="2194560" cy="5943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0" y="411480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Kanit"/>
              </a:rPr>
              <a:t>3 จังหวัด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06240" y="5120640"/>
            <a:ext cx="77724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06240" y="5120640"/>
            <a:ext cx="640080" cy="10972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6240" y="537667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Kanit"/>
              </a:rPr>
              <a:t>⛈️ พายุฝนฟ้าคะนอง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51937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2E3F"/>
                </a:solidFill>
                <a:latin typeface="Kanit"/>
              </a:rPr>
              <a:t>เตือนฝนหนักมาก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37760" y="552297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5577"/>
                </a:solidFill>
                <a:latin typeface="Kanit"/>
              </a:rPr>
              <a:t>กรุงเทพฯ และปริมณฑล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01200" y="5349240"/>
            <a:ext cx="2194560" cy="5943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01200" y="534924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Kanit"/>
              </a:rPr>
              <a:t>8 จังหวัด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754880"/>
            <a:ext cx="113842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482803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E3F"/>
                </a:solidFill>
                <a:latin typeface="Kanit"/>
              </a:rPr>
              <a:t>📡 แหล่งข้อมูลภัยพิบัติ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52120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3F"/>
                </a:solidFill>
                <a:latin typeface="Kanit"/>
              </a:rPr>
              <a:t>🛰️ GISTDA — ภาพถ่ายดาวเทียมและจุดความร้อนทั่วประเทศ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52120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3F"/>
                </a:solidFill>
                <a:latin typeface="Kanit"/>
              </a:rPr>
              <a:t>🌧️ กรมอุตุนิยมวิทยา (TMD) — เตือนพายุ ฝนหนัก ลูกเห็บ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" y="56875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3F"/>
                </a:solidFill>
                <a:latin typeface="Kanit"/>
              </a:rPr>
              <a:t>🌊 กรมทรัพยากรน้ำ — ระดับน้ำและพื้นที่เสี่ยงน้ำท่วม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56875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3F"/>
                </a:solidFill>
                <a:latin typeface="Kanit"/>
              </a:rPr>
              <a:t>🔥 อัปเดตอัตโนมัติทุก 1 ชั่วโมง ผ่าน Firebase Realtime Database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Kanit"/>
              </a:rPr>
              <a:t>⚙️ เทคโนโลยีและแหล่งข้อมูล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EEFF"/>
                </a:solidFill>
                <a:latin typeface="Kanit"/>
              </a:rPr>
              <a:t>Stack ที่ใช้พัฒนาและ APIs ที่เชื่อมต่อ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57432" y="0"/>
            <a:ext cx="731520" cy="1188720"/>
          </a:xfrm>
          <a:prstGeom prst="rect">
            <a:avLst/>
          </a:prstGeom>
          <a:solidFill>
            <a:srgbClr val="02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03152" y="320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A8E8"/>
                </a:solidFill>
                <a:latin typeface="Kanit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566160" cy="5120640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A8E8"/>
                </a:solidFill>
                <a:latin typeface="Kanit"/>
              </a:rPr>
              <a:t>🖥️ Frontend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20240"/>
            <a:ext cx="3291840" cy="658368"/>
          </a:xfrm>
          <a:prstGeom prst="rect">
            <a:avLst/>
          </a:prstGeom>
          <a:solidFill>
            <a:srgbClr val="0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02996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Kanit"/>
              </a:rPr>
              <a:t>⚛️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965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Kanit"/>
              </a:rPr>
              <a:t>React 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2677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96B0"/>
                </a:solidFill>
                <a:latin typeface="Kanit"/>
              </a:rPr>
              <a:t>UI Components &amp; State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679192"/>
            <a:ext cx="3291840" cy="658368"/>
          </a:xfrm>
          <a:prstGeom prst="rect">
            <a:avLst/>
          </a:prstGeom>
          <a:solidFill>
            <a:srgbClr val="0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7889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Kanit"/>
              </a:rPr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7249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Kanit"/>
              </a:rPr>
              <a:t>Vite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0266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96B0"/>
                </a:solidFill>
                <a:latin typeface="Kanit"/>
              </a:rPr>
              <a:t>Build Tool &amp; Dev Server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438144"/>
            <a:ext cx="3291840" cy="658368"/>
          </a:xfrm>
          <a:prstGeom prst="rect">
            <a:avLst/>
          </a:prstGeom>
          <a:solidFill>
            <a:srgbClr val="0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54787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Kanit"/>
              </a:rPr>
              <a:t>🗺️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483863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Kanit"/>
              </a:rPr>
              <a:t>Leaflet.js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78561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96B0"/>
                </a:solidFill>
                <a:latin typeface="Kanit"/>
              </a:rPr>
              <a:t>Interactive Map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197096"/>
            <a:ext cx="3291840" cy="658368"/>
          </a:xfrm>
          <a:prstGeom prst="rect">
            <a:avLst/>
          </a:prstGeom>
          <a:solidFill>
            <a:srgbClr val="0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30682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Kanit"/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2428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Kanit"/>
              </a:rPr>
              <a:t>Recharts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544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96B0"/>
                </a:solidFill>
                <a:latin typeface="Kanit"/>
              </a:rPr>
              <a:t>Charts &amp; Visualization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4956048"/>
            <a:ext cx="3291840" cy="658368"/>
          </a:xfrm>
          <a:prstGeom prst="rect">
            <a:avLst/>
          </a:prstGeom>
          <a:solidFill>
            <a:srgbClr val="0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06577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Kanit"/>
              </a:rPr>
              <a:t>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5001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Kanit"/>
              </a:rPr>
              <a:t>Firebase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303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96B0"/>
                </a:solidFill>
                <a:latin typeface="Kanit"/>
              </a:rPr>
              <a:t>Realtime Database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5715000"/>
            <a:ext cx="3291840" cy="658368"/>
          </a:xfrm>
          <a:prstGeom prst="rect">
            <a:avLst/>
          </a:prstGeom>
          <a:solidFill>
            <a:srgbClr val="0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82472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Kanit"/>
              </a:rPr>
              <a:t>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760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Kanit"/>
              </a:rPr>
              <a:t>PWA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60624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96B0"/>
                </a:solidFill>
                <a:latin typeface="Kanit"/>
              </a:rPr>
              <a:t>Progressive Web App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60" y="1371600"/>
            <a:ext cx="3703320" cy="5120640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0" y="1417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C55E"/>
                </a:solidFill>
                <a:latin typeface="Kanit"/>
              </a:rPr>
              <a:t>📡 แหล่งข้อมูล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0" y="1920240"/>
            <a:ext cx="3429000" cy="658368"/>
          </a:xfrm>
          <a:prstGeom prst="rect">
            <a:avLst/>
          </a:prstGeom>
          <a:solidFill>
            <a:srgbClr val="0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0" y="202996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Kanit"/>
              </a:rPr>
              <a:t>🌡️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1965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Kanit"/>
              </a:rPr>
              <a:t>Open-Meteo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0" y="22677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96B0"/>
                </a:solidFill>
                <a:latin typeface="Kanit"/>
              </a:rPr>
              <a:t>Weather &amp; Air Quality
Free &amp; High-res Global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9120" y="2679192"/>
            <a:ext cx="3429000" cy="658368"/>
          </a:xfrm>
          <a:prstGeom prst="rect">
            <a:avLst/>
          </a:prstGeom>
          <a:solidFill>
            <a:srgbClr val="0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0" y="27889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Kanit"/>
              </a:rPr>
              <a:t>🇹🇭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27249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Kanit"/>
              </a:rPr>
              <a:t>TMD API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37760" y="30266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96B0"/>
                </a:solidFill>
                <a:latin typeface="Kanit"/>
              </a:rPr>
              <a:t>กรมอุตุนิยมวิทยา
ข้อมูลสถานีทั่วไทย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0" y="3438144"/>
            <a:ext cx="3429000" cy="658368"/>
          </a:xfrm>
          <a:prstGeom prst="rect">
            <a:avLst/>
          </a:prstGeom>
          <a:solidFill>
            <a:srgbClr val="0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0" y="354787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Kanit"/>
              </a:rPr>
              <a:t>🛰️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37760" y="3483863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Kanit"/>
              </a:rPr>
              <a:t>GISTDA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60" y="3785615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96B0"/>
                </a:solidFill>
                <a:latin typeface="Kanit"/>
              </a:rPr>
              <a:t>ภาพถ่ายดาวเทียม
Hotspot &amp; Disaster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89120" y="4197096"/>
            <a:ext cx="3429000" cy="658368"/>
          </a:xfrm>
          <a:prstGeom prst="rect">
            <a:avLst/>
          </a:prstGeom>
          <a:solidFill>
            <a:srgbClr val="0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89120" y="430682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Kanit"/>
              </a:rPr>
              <a:t>🗺️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37760" y="424281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Kanit"/>
              </a:rPr>
              <a:t>OpenStreetMap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37760" y="45445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96B0"/>
                </a:solidFill>
                <a:latin typeface="Kanit"/>
              </a:rPr>
              <a:t>แผนที่และ GeoJSON
Reverse Geocoding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89120" y="4956048"/>
            <a:ext cx="3429000" cy="658368"/>
          </a:xfrm>
          <a:prstGeom prst="rect">
            <a:avLst/>
          </a:prstGeom>
          <a:solidFill>
            <a:srgbClr val="0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89120" y="506577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Kanit"/>
              </a:rPr>
              <a:t>🤖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37760" y="5001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Kanit"/>
              </a:rPr>
              <a:t>Google Gemini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37760" y="5303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96B0"/>
                </a:solidFill>
                <a:latin typeface="Kanit"/>
              </a:rPr>
              <a:t>AI Language Model
Weather Analysis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89120" y="5715000"/>
            <a:ext cx="3429000" cy="658368"/>
          </a:xfrm>
          <a:prstGeom prst="rect">
            <a:avLst/>
          </a:prstGeom>
          <a:solidFill>
            <a:srgbClr val="0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89120" y="582472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Kanit"/>
              </a:rPr>
              <a:t>📍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37760" y="5760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Kanit"/>
              </a:rPr>
              <a:t>BigDataCloud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37760" y="60624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96B0"/>
                </a:solidFill>
                <a:latin typeface="Kanit"/>
              </a:rPr>
              <a:t>Reverse Geocoding
ตำแหน่ง GPS → ที่อยู่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83879" y="1371600"/>
            <a:ext cx="3611880" cy="5120640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21040" y="14173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AB308"/>
                </a:solidFill>
                <a:latin typeface="Kanit"/>
              </a:rPr>
              <a:t>🏗️ สถาปัตยกรรม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21040" y="1920240"/>
            <a:ext cx="3337560" cy="7132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58200" y="19933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Kanit"/>
              </a:rPr>
              <a:t>🧑 ผู้ใช้งาน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58200" y="230428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EFF"/>
                </a:solidFill>
                <a:latin typeface="Kanit"/>
              </a:rPr>
              <a:t>Browser / Mobile PWA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84080" y="263347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96B0"/>
                </a:solidFill>
                <a:latin typeface="Kanit"/>
              </a:rPr>
              <a:t>↕️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321040" y="2807208"/>
            <a:ext cx="3337560" cy="71323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58200" y="2880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Kanit"/>
              </a:rPr>
              <a:t>⚛️ React Frontend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58200" y="319125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EFF"/>
                </a:solidFill>
                <a:latin typeface="Kanit"/>
              </a:rPr>
              <a:t>Component-based SPA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784080" y="35204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96B0"/>
                </a:solidFill>
                <a:latin typeface="Kanit"/>
              </a:rPr>
              <a:t>↕️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21040" y="3694176"/>
            <a:ext cx="3337560" cy="7132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458200" y="37673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Kanit"/>
              </a:rPr>
              <a:t>🔥 Firebase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58200" y="407822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EFF"/>
                </a:solidFill>
                <a:latin typeface="Kanit"/>
              </a:rPr>
              <a:t>Realtime Database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784080" y="440740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96B0"/>
                </a:solidFill>
                <a:latin typeface="Kanit"/>
              </a:rPr>
              <a:t>↕️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321040" y="4581144"/>
            <a:ext cx="3337560" cy="713232"/>
          </a:xfrm>
          <a:prstGeom prst="rect">
            <a:avLst/>
          </a:prstGeom>
          <a:solidFill>
            <a:srgbClr val="F97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458200" y="465429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Kanit"/>
              </a:rPr>
              <a:t>🌐 Vercel API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58200" y="496519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EFF"/>
                </a:solidFill>
                <a:latin typeface="Kanit"/>
              </a:rPr>
              <a:t>Serverless Functions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784080" y="529437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96B0"/>
                </a:solidFill>
                <a:latin typeface="Kanit"/>
              </a:rPr>
              <a:t>↕️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321040" y="5468112"/>
            <a:ext cx="3337560" cy="7132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458200" y="554126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Kanit"/>
              </a:rPr>
              <a:t>📡 External APIs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58200" y="58521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EFF"/>
                </a:solidFill>
                <a:latin typeface="Kanit"/>
              </a:rPr>
              <a:t>TMD / Open-Meteo / GISTDA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73152" cy="6858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0" y="457200"/>
            <a:ext cx="6400800" cy="6400800"/>
          </a:xfrm>
          <a:prstGeom prst="ellipse">
            <a:avLst/>
          </a:prstGeom>
          <a:solidFill>
            <a:srgbClr val="03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172200" y="1143000"/>
            <a:ext cx="5029200" cy="5029200"/>
          </a:xfrm>
          <a:prstGeom prst="ellipse">
            <a:avLst/>
          </a:prstGeom>
          <a:solidFill>
            <a:srgbClr val="04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0" y="1828800"/>
            <a:ext cx="3657600" cy="3657600"/>
          </a:xfrm>
          <a:prstGeom prst="ellipse">
            <a:avLst/>
          </a:prstGeom>
          <a:solidFill>
            <a:srgbClr val="064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3716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0" i="0">
                <a:solidFill>
                  <a:srgbClr val="FFFFFF"/>
                </a:solidFill>
                <a:latin typeface="Kanit"/>
              </a:rPr>
              <a:t>🌤️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Kanit"/>
              </a:rPr>
              <a:t>Air4Thai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0604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A8E8"/>
                </a:solidFill>
                <a:latin typeface="Kanit"/>
              </a:rPr>
              <a:t>แอปพยากรณ์อากาศอัจฉริยะสำหรับประเทศไทย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46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496B0"/>
                </a:solidFill>
                <a:latin typeface="Kanit"/>
              </a:rPr>
              <a:t>ครอบคลุม 77 จังหวัด  |  ข้อมูล Real-time  |  AI วิเคราะห์สภาพอากาศ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886200"/>
            <a:ext cx="1325880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88620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Kanit"/>
              </a:rPr>
              <a:t>⛅ สภาพอากาศ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48840" y="3886200"/>
            <a:ext cx="1325880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8840" y="388620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Kanit"/>
              </a:rPr>
              <a:t>🌡️ อุณหภูมิ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11880" y="3886200"/>
            <a:ext cx="1325880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388620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Kanit"/>
              </a:rPr>
              <a:t>💨 ลม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3886200"/>
            <a:ext cx="1325880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388620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Kanit"/>
              </a:rPr>
              <a:t>🌫️ PM2.5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480560"/>
            <a:ext cx="1325880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Kanit"/>
              </a:rPr>
              <a:t>🌧️ ฝน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48840" y="4480560"/>
            <a:ext cx="1325880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48840" y="448056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Kanit"/>
              </a:rPr>
              <a:t>🗺️ แผนที่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11880" y="4480560"/>
            <a:ext cx="1325880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1880" y="448056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Kanit"/>
              </a:rPr>
              <a:t>🤖 AI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74920" y="4480560"/>
            <a:ext cx="1325880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448056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Kanit"/>
              </a:rPr>
              <a:t>🚨 เตือนภัย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5212080"/>
            <a:ext cx="11183112" cy="2743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30352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96B0"/>
                </a:solidFill>
                <a:latin typeface="Kanit"/>
              </a:rPr>
              <a:t>Built with React + Vite  •  Firebase  •  Vercel  •  Google Gemini  •  TMD  •  GISTDA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80644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96B0"/>
                </a:solidFill>
                <a:latin typeface="Kanit"/>
              </a:rPr>
              <a:t>© 2025 Air4Thai Weather 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