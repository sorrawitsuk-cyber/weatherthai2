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b8977c6c34ded" /><Relationship Type="http://schemas.openxmlformats.org/officeDocument/2006/relationships/extended-properties" Target="/docProps/app.xml" Id="Rdcf5e770732e4270" /><Relationship Type="http://schemas.openxmlformats.org/officeDocument/2006/relationships/officeDocument" Target="/ppt/presentation.xml" Id="R14ea47002ceb4c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99125b75b4762"/>
  </p:sldMasterIdLst>
  <p:notesMasterIdLst>
    <p:notesMasterId xmlns:r="http://schemas.openxmlformats.org/officeDocument/2006/relationships" r:id="R17c992b2c4474b07"/>
  </p:notesMasterIdLst>
  <p:sldIdLst>
    <p:sldId xmlns:r="http://schemas.openxmlformats.org/officeDocument/2006/relationships" id="256" r:id="R88b21b2f5fbe4e39"/>
    <p:sldId xmlns:r="http://schemas.openxmlformats.org/officeDocument/2006/relationships" id="257" r:id="Rad2c4b3347c0475d"/>
    <p:sldId xmlns:r="http://schemas.openxmlformats.org/officeDocument/2006/relationships" id="258" r:id="R14c34b9f534d4bdf"/>
    <p:sldId xmlns:r="http://schemas.openxmlformats.org/officeDocument/2006/relationships" id="259" r:id="Rf8004e8958d54e20"/>
    <p:sldId xmlns:r="http://schemas.openxmlformats.org/officeDocument/2006/relationships" id="260" r:id="Rb117919abd324b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99125b75b4762" /><Relationship Type="http://schemas.openxmlformats.org/officeDocument/2006/relationships/theme" Target="/ppt/theme/theme1.xml" Id="Rb9d5b797070b4adb" /><Relationship Type="http://schemas.openxmlformats.org/officeDocument/2006/relationships/notesMaster" Target="/ppt/notesMasters/notesMaster1.xml" Id="R17c992b2c4474b07" /><Relationship Type="http://schemas.openxmlformats.org/officeDocument/2006/relationships/presProps" Target="/ppt/presProps.xml" Id="R81e9cac0bbc64d46" /><Relationship Type="http://schemas.openxmlformats.org/officeDocument/2006/relationships/viewProps" Target="/ppt/viewProps.xml" Id="Rc2daa9715c2b4648" /><Relationship Type="http://schemas.openxmlformats.org/officeDocument/2006/relationships/tableStyles" Target="/ppt/tableStyles.xml" Id="R62fe98e3f28a4087" /><Relationship Type="http://schemas.openxmlformats.org/officeDocument/2006/relationships/slide" Target="/ppt/slides/slide1.xml" Id="R88b21b2f5fbe4e39" /><Relationship Type="http://schemas.openxmlformats.org/officeDocument/2006/relationships/slide" Target="/ppt/slides/slide2.xml" Id="Rad2c4b3347c0475d" /><Relationship Type="http://schemas.openxmlformats.org/officeDocument/2006/relationships/slide" Target="/ppt/slides/slide3.xml" Id="R14c34b9f534d4bdf" /><Relationship Type="http://schemas.openxmlformats.org/officeDocument/2006/relationships/slide" Target="/ppt/slides/slide4.xml" Id="Rf8004e8958d54e20" /><Relationship Type="http://schemas.openxmlformats.org/officeDocument/2006/relationships/slide" Target="/ppt/slides/slide5.xml" Id="Rb117919abd324b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46b4bdacd642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6ba0afad947b4" /><Relationship Type="http://schemas.openxmlformats.org/officeDocument/2006/relationships/notesMaster" Target="/ppt/notesMasters/notesMaster1.xml" Id="R141ba1198d28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26870eb6b4e9f" /><Relationship Type="http://schemas.openxmlformats.org/officeDocument/2006/relationships/notesMaster" Target="/ppt/notesMasters/notesMaster1.xml" Id="R85d5911d2a2c4a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cf9c91e5e94869" /><Relationship Type="http://schemas.openxmlformats.org/officeDocument/2006/relationships/notesMaster" Target="/ppt/notesMasters/notesMaster1.xml" Id="Red414cac1dad4e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c0903fe55a4c25" /><Relationship Type="http://schemas.openxmlformats.org/officeDocument/2006/relationships/notesMaster" Target="/ppt/notesMasters/notesMaster1.xml" Id="Rd6573387d51747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61002916b9467c" /><Relationship Type="http://schemas.openxmlformats.org/officeDocument/2006/relationships/notesMaster" Target="/ppt/notesMasters/notesMaster1.xml" Id="Raa18221d8efc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739696421423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1033701-A2D6-4BFC-AC6F-7C1B182BAF7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EF9DE6A-431A-4BA1-82D7-7E846AD7CD1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6F113C-DF81-431C-AE2E-D40D36866AA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58A165-24E5-4A65-A1E0-2ABBBF915DB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B99BB-95DC-4471-805F-B7E92870D31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8718f4784cd4e7f" /><Relationship Type="http://schemas.openxmlformats.org/officeDocument/2006/relationships/slideLayout" Target="/ppt/slideLayouts/slideLayout2.xml" Id="Rcee86955490240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024F49-D5E3-4824-8887-CB194F5BC41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e86955490240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d4ad69a7fe463a" /><Relationship Type="http://schemas.openxmlformats.org/officeDocument/2006/relationships/notesSlide" Target="/ppt/notesSlides/notesSlide1.xml" Id="R46d7563c2584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f7dbb17ee4909" /><Relationship Type="http://schemas.openxmlformats.org/officeDocument/2006/relationships/notesSlide" Target="/ppt/notesSlides/notesSlide2.xml" Id="Rba52d5ede3864a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7b868718c4abb" /><Relationship Type="http://schemas.openxmlformats.org/officeDocument/2006/relationships/chart" Target="/ppt/slides/charts/chart1.xml" Id="Radedefa35d2747ba" /><Relationship Type="http://schemas.openxmlformats.org/officeDocument/2006/relationships/notesSlide" Target="/ppt/notesSlides/notesSlide3.xml" Id="Rfac77e2e4f7544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ba0870c2a43b5" /><Relationship Type="http://schemas.openxmlformats.org/officeDocument/2006/relationships/chart" Target="/ppt/slides/charts/chart2.xml" Id="R8ced327fd26047e2" /><Relationship Type="http://schemas.openxmlformats.org/officeDocument/2006/relationships/notesSlide" Target="/ppt/notesSlides/notesSlide4.xml" Id="Rb81f897a9be44c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e0abf8eb604c9f" /><Relationship Type="http://schemas.openxmlformats.org/officeDocument/2006/relationships/image" Target="/ppt/media/image.png" Id="R5ba0ee78460247fd" /><Relationship Type="http://schemas.openxmlformats.org/officeDocument/2006/relationships/notesSlide" Target="/ppt/notesSlides/notesSlide5.xml" Id="Rfcdf2ea7046a4550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latin typeface="Aptos Display"/>
                <a:ea typeface="Aptos Display"/>
                <a:cs typeface="Aptos Display"/>
              </a:rPr>
              <a:t>District distribution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tos Display"/>
              <a:ea typeface="Aptos Display"/>
              <a:cs typeface="Aptos Display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Locations</c:v>
          </c:tx>
          <c:spPr>
            <a:solidFill xmlns:a="http://schemas.openxmlformats.org/drawingml/2006/main">
              <a:srgbClr val="1D4ED8"/>
            </a:solidFill>
            <a:ln xmlns:a="http://schemas.openxmlformats.org/drawingml/2006/main" w="14288">
              <a:solidFill>
                <a:srgbClr val="1D4ED8"/>
              </a:solidFill>
              <a:prstDash val="solid"/>
            </a:ln>
          </c:spPr>
          <c:cat>
            <c:strLit>
              <c:ptCount val="10"/>
              <c:pt idx="0">
                <c:v>เขตคลองสามวา</c:v>
              </c:pt>
              <c:pt idx="1">
                <c:v>เขตตลิ่งชัน</c:v>
              </c:pt>
              <c:pt idx="2">
                <c:v>เขตหนองจอก</c:v>
              </c:pt>
              <c:pt idx="3">
                <c:v>เขตประเวศ</c:v>
              </c:pt>
              <c:pt idx="4">
                <c:v>เขตทุ่งครุ</c:v>
              </c:pt>
              <c:pt idx="5">
                <c:v>เขตจตุุจักร</c:v>
              </c:pt>
              <c:pt idx="6">
                <c:v>เขตคลองเตย</c:v>
              </c:pt>
              <c:pt idx="7">
                <c:v>เขตบึงกุุ่่ม</c:v>
              </c:pt>
              <c:pt idx="8">
                <c:v>เขตปทุมวัน</c:v>
              </c:pt>
              <c:pt idx="9">
                <c:v>เขตดุสิต</c:v>
              </c:pt>
            </c:strLit>
          </c:cat>
          <c:val>
            <c:numLit>
              <c:formatCode/>
              <c:ptCount val="10"/>
              <c:pt idx="0">
                <c:v>58</c:v>
              </c:pt>
              <c:pt idx="1">
                <c:v>27</c:v>
              </c:pt>
              <c:pt idx="2">
                <c:v>21</c:v>
              </c:pt>
              <c:pt idx="3">
                <c:v>21</c:v>
              </c:pt>
              <c:pt idx="4">
                <c:v>17</c:v>
              </c:pt>
              <c:pt idx="5">
                <c:v>17</c:v>
              </c:pt>
              <c:pt idx="6">
                <c:v>17</c:v>
              </c:pt>
              <c:pt idx="7">
                <c:v>15</c:v>
              </c:pt>
              <c:pt idx="8">
                <c:v>15</c:v>
              </c:pt>
              <c:pt idx="9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latin typeface="Aptos Display"/>
                <a:ea typeface="Aptos Display"/>
                <a:cs typeface="Aptos Display"/>
              </a:rPr>
              <a:t>Top named subdistricts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tos Display"/>
              <a:ea typeface="Aptos Display"/>
              <a:cs typeface="Aptos Display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Locations</c:v>
          </c:tx>
          <c:spPr>
            <a:solidFill xmlns:a="http://schemas.openxmlformats.org/drawingml/2006/main">
              <a:srgbClr val="14B8A6"/>
            </a:solidFill>
            <a:ln xmlns:a="http://schemas.openxmlformats.org/drawingml/2006/main" w="14288">
              <a:solidFill>
                <a:srgbClr val="14B8A6"/>
              </a:solidFill>
              <a:prstDash val="solid"/>
            </a:ln>
          </c:spPr>
          <c:cat>
            <c:strLit>
              <c:ptCount val="8"/>
              <c:pt idx="0">
                <c:v>สามวาตะวันออก เขตคลองสามวา กรุงเทพมหานคร</c:v>
              </c:pt>
              <c:pt idx="1">
                <c:v>สามวาตะวันตก เขตคลองสามวา กรุงเทพมหานคร</c:v>
              </c:pt>
              <c:pt idx="2">
                <c:v>ทุ่งสองห้อง เขตหลักสี่ กรุงเทพมหานคร</c:v>
              </c:pt>
              <c:pt idx="3">
                <c:v>บางชัน เขตคลองสามวา กรุงเทพมหานคร</c:v>
              </c:pt>
              <c:pt idx="4">
                <c:v>ฉิมพลี เขตตลิ่งชัน กรุงเทพมหานคร</c:v>
              </c:pt>
              <c:pt idx="5">
                <c:v>จรเข้บัว</c:v>
              </c:pt>
              <c:pt idx="6">
                <c:v>สี่พระยา เขตบางรัก กรุงเทพมหานคร</c:v>
              </c:pt>
              <c:pt idx="7">
                <c:v>คลองตันเหนือ เขตวัฒนา กรุงเทพมหานคร</c:v>
              </c:pt>
            </c:strLit>
          </c:cat>
          <c:val>
            <c:numLit>
              <c:formatCode/>
              <c:ptCount val="8"/>
              <c:pt idx="0">
                <c:v>8</c:v>
              </c:pt>
              <c:pt idx="1">
                <c:v>6</c:v>
              </c:pt>
              <c:pt idx="2">
                <c:v>5</c:v>
              </c:pt>
              <c:pt idx="3">
                <c:v>5</c:v>
              </c:pt>
              <c:pt idx="4">
                <c:v>4</c:v>
              </c:pt>
              <c:pt idx="5">
                <c:v>3</c:v>
              </c:pt>
              <c:pt idx="6">
                <c:v>3</c:v>
              </c:pt>
              <c:pt idx="7">
                <c:v>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B99BB-95DC-4471-805F-B7E92870D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CDBD9-8EF9-46CD-8237-C1FA027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0485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0">
            <a:solidFill>
              <a:srgbClr val="0B1F33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Bangkok Cooling Shelter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57B52-16D9-4D25-9E71-FAA1D13E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0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0">
            <a:solidFill>
              <a:srgbClr val="0B1F33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7FF"/>
                </a:solidFill>
              </a:defRPr>
            </a:pPr>
            <a:r>
              <a:rPr sz="1350" b="0">
                <a:solidFill>
                  <a:srgbClr val="D6E7FF"/>
                </a:solidFill>
              </a:rPr>
              <a:t>Dataset: สรุปจำนวนห้องหลบร้อนจุดหลบร้อน ณ วันที่ 31 มีค 69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69C9E-BB12-4E29-9F3A-1F1B5EC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095750" cy="1733550"/>
          </a:xfrm>
          <a:prstGeom xmlns:a="http://schemas.openxmlformats.org/drawingml/2006/main" prst="roundRect">
            <a:avLst>
              <a:gd name="adj" fmla="val 4396"/>
            </a:avLst>
          </a:prstGeom>
          <a:ln xmlns:a="http://schemas.openxmlformats.org/drawingml/2006/main" w="0">
            <a:solidFill>
              <a:srgbClr val="0B1F33"/>
            </a:solidFill>
          </a:ln>
        </p:spPr>
        <p:txBody>
          <a:bodyPr xmlns:a="http://schemas.openxmlformats.org/drawingml/2006/main" lIns="247650" tIns="209550" rIns="247650" bIns="20955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Locations 599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Mapped points 592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Coverage 98.83%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CC269-8A4F-4380-A4CC-528F65A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7155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ln xmlns:a="http://schemas.openxmlformats.org/drawingml/2006/main" w="0">
            <a:solidFill>
              <a:srgbClr val="0B1F33"/>
            </a:solidFill>
          </a:ln>
        </p:spPr>
        <p:txBody>
          <a:bodyPr xmlns:a="http://schemas.openxmlformats.org/drawingml/2006/main" lIns="228600" tIns="228600" rIns="228600" bIns="2286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เขตคลองสามวา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58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Top hotspot district in the current file</a:t>
            </a:r>
          </a:p>
        </p:txBody>
      </p:sp>
    </p:spTree>
    <p:extLst>
      <p:ext uri="{BB962C8B-B14F-4D97-AF65-F5344CB8AC3E}">
        <p14:creationId xmlns:p14="http://schemas.microsoft.com/office/powerpoint/2010/main" val="572217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B99BB-95DC-4471-805F-B7E92870D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3E6B0-7437-4B15-9A38-BED1A97D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ln xmlns:a="http://schemas.openxmlformats.org/drawingml/2006/main" w="0">
            <a:solidFill>
              <a:srgbClr val="F7FAFC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Executive summary</a:t>
            </a:r>
          </a:p>
        </p:txBody>
      </p:sp>
      <p:graphicFrame>
        <p:nvGraphicFramePr>
          <p:cNvPr id="3" name=""/>
          <p:cNvGraphicFramePr/>
          <p:nvPr/>
        </p:nvGraphicFramePr>
        <p:xfrm>
          <a:off xmlns:a="http://schemas.openxmlformats.org/drawingml/2006/main" x="495300" y="1104900"/>
          <a:ext xmlns:a="http://schemas.openxmlformats.org/drawingml/2006/main" cx="4095750" cy="20955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7875"/>
                <a:gridCol w="2047875"/>
              </a:tblGrid>
              <a:tr h="523875">
                <a:tc>
                  <a:txBody>
                    <a:bodyPr/>
                    <a:lstStyle/>
                    <a:p>
                      <a:r>
                        <a:rPr/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Value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/>
                        <a:t>Total locations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599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/>
                        <a:t>Mapped points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592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/>
                        <a:t>Coverage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98.83%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5D636-412D-4685-B122-28A7A053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04900"/>
            <a:ext cx="6477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  <p:txBody>
          <a:bodyPr xmlns:a="http://schemas.openxmlformats.org/drawingml/2006/main" lIns="209550" tIns="171450" rIns="209550" bIns="1714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1. Coverage is high, with only 7 records missing coordinates.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2. เขตคลองสามวา is the largest cluster.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3. District-level analysis is more reliable than subdistrict-level analysis because many rows still omit subdistrict names.</a:t>
            </a:r>
          </a:p>
        </p:txBody>
      </p:sp>
    </p:spTree>
    <p:extLst>
      <p:ext uri="{BB962C8B-B14F-4D97-AF65-F5344CB8AC3E}">
        <p14:creationId xmlns:p14="http://schemas.microsoft.com/office/powerpoint/2010/main" val="1049396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B99BB-95DC-4471-805F-B7E92870D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6772C-52DC-450E-9191-AB190FE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810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Top districts by location count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mlns:a="http://schemas.openxmlformats.org/drawingml/2006/main" x="514350" y="1047750"/>
          <a:ext xmlns:a="http://schemas.openxmlformats.org/drawingml/2006/main" cx="7239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edefa35d2747b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86CD7-652B-455E-8518-BC0A973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เขตคลองสามวา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58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The eastern and outer districts dominate the current inventory.</a:t>
            </a:r>
          </a:p>
        </p:txBody>
      </p:sp>
    </p:spTree>
    <p:extLst>
      <p:ext uri="{BB962C8B-B14F-4D97-AF65-F5344CB8AC3E}">
        <p14:creationId xmlns:p14="http://schemas.microsoft.com/office/powerpoint/2010/main" val="240055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B99BB-95DC-4471-805F-B7E92870D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9B32-F20C-4A82-A01B-A7A14D6A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solidFill>
              <a:srgbClr val="F8FAFC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Subdistrict names and data quality</a:t>
            </a:r>
          </a:p>
        </p:txBody>
      </p:sp>
      <p:graphicFrame>
        <p:nvGraphicFramePr>
          <p:cNvPr id="3" name="Chart"/>
          <p:cNvGraphicFramePr/>
          <p:nvPr/>
        </p:nvGraphicFramePr>
        <p:xfrm>
          <a:off xmlns:a="http://schemas.openxmlformats.org/drawingml/2006/main" x="495300" y="1104900"/>
          <a:ext xmlns:a="http://schemas.openxmlformats.org/drawingml/2006/main" cx="68580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ed327fd26047e2"/>
          </a:graphicData>
        </a:graphic>
      </p:graphicFrame>
      <p:graphicFrame>
        <p:nvGraphicFramePr>
          <p:cNvPr id="4" name=""/>
          <p:cNvGraphicFramePr/>
          <p:nvPr/>
        </p:nvGraphicFramePr>
        <p:xfrm>
          <a:off xmlns:a="http://schemas.openxmlformats.org/drawingml/2006/main" x="7810500" y="1333500"/>
          <a:ext xmlns:a="http://schemas.openxmlformats.org/drawingml/2006/main" cx="33337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666875"/>
              </a:tblGrid>
              <a:tr h="508000">
                <a:tc>
                  <a:txBody>
                    <a:bodyPr/>
                    <a:lstStyle/>
                    <a:p>
                      <a:r>
                        <a:rPr/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Value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Known subdistricts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183</a:t>
                      </a:r>
                    </a:p>
                  </a:txBody>
                  <a:tcPr marL="91440" marR="91440" marT="45720" marB="45720"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/>
                        <a:t>Missing coordinates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54D4D-1781-416F-B666-529A80F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Subdistrict coverage is usable but incomplete. District-level comparisons remain the most stable cut of the dataset for executive reporting.</a:t>
            </a:r>
          </a:p>
        </p:txBody>
      </p:sp>
    </p:spTree>
    <p:extLst>
      <p:ext uri="{BB962C8B-B14F-4D97-AF65-F5344CB8AC3E}">
        <p14:creationId xmlns:p14="http://schemas.microsoft.com/office/powerpoint/2010/main" val="535049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3B99BB-95DC-4471-805F-B7E92870D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D077B-9F0E-4775-8890-0D61540C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solidFill>
              <a:srgbClr val="0B1F33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GeoJSON point map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0ee78460247fd"/>
          <a:stretch xmlns:a="http://schemas.openxmlformats.org/drawingml/2006/main"/>
        </p:blipFill>
        <p:spPr>
          <a:xfrm xmlns:a="http://schemas.openxmlformats.org/drawingml/2006/main">
            <a:off x="438150" y="1346597"/>
            <a:ext cx="7810500" cy="439340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98F35-0E7D-4C38-98A6-487042A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ln xmlns:a="http://schemas.openxmlformats.org/drawingml/2006/main" w="0">
            <a:solidFill>
              <a:srgbClr val="0B1F33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Mapped points 592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Districts 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GeoJSON markers show broad citywide coverage with stronger clusters in outer districts.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22311-5696-479F-BA5B-7EEB509B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0">
            <a:solidFill>
              <a:srgbClr val="0B1F33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7FF"/>
                </a:solidFill>
              </a:defRPr>
            </a:pPr>
            <a:r>
              <a:rPr sz="1200" b="0">
                <a:solidFill>
                  <a:srgbClr val="D6E7FF"/>
                </a:solidFill>
              </a:rPr>
              <a:t>Source: points.geojson rendered from the cleaned spatial dataset.</a:t>
            </a:r>
          </a:p>
        </p:txBody>
      </p:sp>
    </p:spTree>
    <p:extLst>
      <p:ext uri="{BB962C8B-B14F-4D97-AF65-F5344CB8AC3E}">
        <p14:creationId xmlns:p14="http://schemas.microsoft.com/office/powerpoint/2010/main" val="213843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2026-04-20T03:35:58.3630000Z</dcterms:created>
  <dcterms:modified xsi:type="dcterms:W3CDTF">2026-04-20T03:35:58.3630000Z</dcterms:modified>
</coreProperties>
</file>